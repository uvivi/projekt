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78" r:id="rId3"/>
    <p:sldId id="279" r:id="rId4"/>
    <p:sldId id="257" r:id="rId5"/>
    <p:sldId id="258" r:id="rId6"/>
    <p:sldId id="265" r:id="rId7"/>
    <p:sldId id="260" r:id="rId8"/>
    <p:sldId id="261" r:id="rId9"/>
    <p:sldId id="262" r:id="rId10"/>
    <p:sldId id="263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64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103972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93775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48949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96952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61472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60250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52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37870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6232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719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2516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40220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9615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34774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éphasá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87945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109421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3521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A6640-249C-402D-8B96-522C05FAF9CB}" type="datetimeFigureOut">
              <a:rPr lang="hu-HU" smtClean="0"/>
              <a:t>2026. 03. 23.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1E1495-FF38-4EC0-A83F-B34234D11417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4256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082FC86-6B39-42BE-AF50-A0285BBC7D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Notify</a:t>
            </a:r>
            <a:r>
              <a:rPr lang="hu-HU" dirty="0"/>
              <a:t> </a:t>
            </a:r>
            <a:r>
              <a:rPr lang="hu-HU" dirty="0" err="1"/>
              <a:t>Photography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6CB958D-331B-4E68-B581-89A90150BF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 err="1"/>
              <a:t>Ujszászi</a:t>
            </a:r>
            <a:r>
              <a:rPr lang="hu-HU" dirty="0"/>
              <a:t> Vivien, Pintér Botond</a:t>
            </a:r>
          </a:p>
        </p:txBody>
      </p:sp>
    </p:spTree>
    <p:extLst>
      <p:ext uri="{BB962C8B-B14F-4D97-AF65-F5344CB8AC3E}">
        <p14:creationId xmlns:p14="http://schemas.microsoft.com/office/powerpoint/2010/main" val="444883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774745-9190-403D-881C-EC52542FA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Tartalom helye 6">
            <a:extLst>
              <a:ext uri="{FF2B5EF4-FFF2-40B4-BE49-F238E27FC236}">
                <a16:creationId xmlns:a16="http://schemas.microsoft.com/office/drawing/2014/main" id="{BF47732D-9F9A-462B-BB52-358415C73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 dirty="0"/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2983C50C-32AA-43B4-B86B-FC63B95E2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7940"/>
            <a:ext cx="12192000" cy="632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215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9051CF-1183-4F28-AA9E-4164A7A06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191FECF-48FA-4E15-A64C-F0116B129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7C5E803E-E004-4DE3-A71C-D8D9CE811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0707"/>
            <a:ext cx="12192000" cy="509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530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0F106B-47A6-4F07-B8C0-D5786E71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1. A PROJEKT CÉLJA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BC8A533-EB8E-4AD9-BE0C-9F35E3799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feladatunk az volt, hogy készítsünk	egy hálózatot, ami redundáns, biztonságos és távolról is elérhető</a:t>
            </a:r>
          </a:p>
        </p:txBody>
      </p:sp>
    </p:spTree>
    <p:extLst>
      <p:ext uri="{BB962C8B-B14F-4D97-AF65-F5344CB8AC3E}">
        <p14:creationId xmlns:p14="http://schemas.microsoft.com/office/powerpoint/2010/main" val="1074263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F96A251-EC7C-4A92-9C77-57A4FB16F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698627"/>
            <a:ext cx="10353761" cy="1326321"/>
          </a:xfrm>
        </p:spPr>
        <p:txBody>
          <a:bodyPr/>
          <a:lstStyle/>
          <a:p>
            <a:r>
              <a:rPr lang="hu-HU" dirty="0"/>
              <a:t>2. Felépítés</a:t>
            </a:r>
          </a:p>
        </p:txBody>
      </p:sp>
      <p:pic>
        <p:nvPicPr>
          <p:cNvPr id="4" name="Tartalom helye 3">
            <a:extLst>
              <a:ext uri="{FF2B5EF4-FFF2-40B4-BE49-F238E27FC236}">
                <a16:creationId xmlns:a16="http://schemas.microsoft.com/office/drawing/2014/main" id="{6FFC17D8-EDC8-40C5-9BA0-CABACCA512B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4950" y="2774922"/>
            <a:ext cx="3815345" cy="306432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5C09F1C3-0777-436A-BA81-1110EB1DBC95}"/>
              </a:ext>
            </a:extLst>
          </p:cNvPr>
          <p:cNvSpPr txBox="1"/>
          <p:nvPr/>
        </p:nvSpPr>
        <p:spPr>
          <a:xfrm>
            <a:off x="5633356" y="2416628"/>
            <a:ext cx="61448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Technológiák:</a:t>
            </a:r>
          </a:p>
          <a:p>
            <a:r>
              <a:rPr lang="hu-HU" dirty="0"/>
              <a:t>		Az irodai környezetben alkalmazunk első és második </a:t>
            </a:r>
            <a:r>
              <a:rPr lang="hu-HU" dirty="0" err="1"/>
              <a:t>rétegbeli</a:t>
            </a:r>
            <a:r>
              <a:rPr lang="hu-HU" dirty="0"/>
              <a:t> redundanciát is (HSRP, OSPF, )</a:t>
            </a:r>
          </a:p>
          <a:p>
            <a:endParaRPr lang="hu-H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dirty="0"/>
              <a:t>Eszközök:</a:t>
            </a:r>
          </a:p>
          <a:p>
            <a:r>
              <a:rPr lang="hu-HU" dirty="0"/>
              <a:t>		</a:t>
            </a:r>
            <a:r>
              <a:rPr lang="hu-HU" dirty="0" err="1"/>
              <a:t>Multilayer</a:t>
            </a:r>
            <a:r>
              <a:rPr lang="hu-HU" dirty="0"/>
              <a:t>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Switchek</a:t>
            </a:r>
            <a:r>
              <a:rPr lang="hu-HU" dirty="0"/>
              <a:t>, </a:t>
            </a:r>
            <a:r>
              <a:rPr lang="hu-HU" dirty="0" err="1"/>
              <a:t>PCk</a:t>
            </a:r>
            <a:r>
              <a:rPr lang="hu-HU" dirty="0"/>
              <a:t>-k és </a:t>
            </a:r>
            <a:r>
              <a:rPr lang="hu-HU" dirty="0" err="1"/>
              <a:t>IoT</a:t>
            </a:r>
            <a:r>
              <a:rPr lang="hu-HU" dirty="0"/>
              <a:t> eszközök</a:t>
            </a:r>
          </a:p>
          <a:p>
            <a:r>
              <a:rPr lang="hu-HU" dirty="0"/>
              <a:t>		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6D02C56-0F52-473E-978C-EAF16532DE63}"/>
              </a:ext>
            </a:extLst>
          </p:cNvPr>
          <p:cNvSpPr txBox="1"/>
          <p:nvPr/>
        </p:nvSpPr>
        <p:spPr>
          <a:xfrm>
            <a:off x="1642118" y="2231962"/>
            <a:ext cx="230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Iroda</a:t>
            </a:r>
          </a:p>
        </p:txBody>
      </p:sp>
    </p:spTree>
    <p:extLst>
      <p:ext uri="{BB962C8B-B14F-4D97-AF65-F5344CB8AC3E}">
        <p14:creationId xmlns:p14="http://schemas.microsoft.com/office/powerpoint/2010/main" val="719732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4C1D41EB-4AFB-481B-9849-4A445D0E10F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26362" y="3429000"/>
            <a:ext cx="4124325" cy="2152650"/>
          </a:xfrm>
          <a:prstGeom prst="rect">
            <a:avLst/>
          </a:prstGeom>
        </p:spPr>
      </p:pic>
      <p:sp>
        <p:nvSpPr>
          <p:cNvPr id="3" name="Szövegdoboz 2">
            <a:extLst>
              <a:ext uri="{FF2B5EF4-FFF2-40B4-BE49-F238E27FC236}">
                <a16:creationId xmlns:a16="http://schemas.microsoft.com/office/drawing/2014/main" id="{8E4308BD-ADE3-447F-BD90-4E8DC95B9F3E}"/>
              </a:ext>
            </a:extLst>
          </p:cNvPr>
          <p:cNvSpPr txBox="1"/>
          <p:nvPr/>
        </p:nvSpPr>
        <p:spPr>
          <a:xfrm>
            <a:off x="1407992" y="2784143"/>
            <a:ext cx="2688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recepció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FDDB4710-743B-4051-AAF3-547BBD1E4B73}"/>
              </a:ext>
            </a:extLst>
          </p:cNvPr>
          <p:cNvSpPr txBox="1"/>
          <p:nvPr/>
        </p:nvSpPr>
        <p:spPr>
          <a:xfrm>
            <a:off x="5923128" y="2320119"/>
            <a:ext cx="4490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</a:t>
            </a:r>
            <a:r>
              <a:rPr lang="hu-HU" dirty="0" err="1"/>
              <a:t>kölünálló</a:t>
            </a:r>
            <a:r>
              <a:rPr lang="hu-HU" dirty="0"/>
              <a:t>, egyszerű hálózat a foglalások intézése érdekében</a:t>
            </a:r>
          </a:p>
        </p:txBody>
      </p:sp>
    </p:spTree>
    <p:extLst>
      <p:ext uri="{BB962C8B-B14F-4D97-AF65-F5344CB8AC3E}">
        <p14:creationId xmlns:p14="http://schemas.microsoft.com/office/powerpoint/2010/main" val="317608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8A2CF92-A950-41D3-A3C1-D1DE0B9ADA0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50751" y="3101454"/>
            <a:ext cx="4835900" cy="2467504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31E557DB-A37B-4319-A190-3A369A57E150}"/>
              </a:ext>
            </a:extLst>
          </p:cNvPr>
          <p:cNvSpPr txBox="1"/>
          <p:nvPr/>
        </p:nvSpPr>
        <p:spPr>
          <a:xfrm>
            <a:off x="1897037" y="2259125"/>
            <a:ext cx="2661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Szerverfarm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59310E77-0967-4A32-B9D7-73C9B662AD05}"/>
              </a:ext>
            </a:extLst>
          </p:cNvPr>
          <p:cNvSpPr txBox="1"/>
          <p:nvPr/>
        </p:nvSpPr>
        <p:spPr>
          <a:xfrm>
            <a:off x="6769290" y="2813123"/>
            <a:ext cx="412162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Védett, elkülönített belső hálózat, melyet mágneses RFID kártya is véd.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Saját tűzfallal védett DMZ, WIFI kapcsolat itt nincs engedélyezve biztonsági okok miatt</a:t>
            </a:r>
          </a:p>
        </p:txBody>
      </p:sp>
    </p:spTree>
    <p:extLst>
      <p:ext uri="{BB962C8B-B14F-4D97-AF65-F5344CB8AC3E}">
        <p14:creationId xmlns:p14="http://schemas.microsoft.com/office/powerpoint/2010/main" val="768596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BF2E30EF-27DA-4DEB-A250-460A9FC4DCB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0546" y="2414587"/>
            <a:ext cx="4591050" cy="202882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9EBDDE2-5772-42F3-8A8B-2E38A9307F68}"/>
              </a:ext>
            </a:extLst>
          </p:cNvPr>
          <p:cNvSpPr txBox="1"/>
          <p:nvPr/>
        </p:nvSpPr>
        <p:spPr>
          <a:xfrm>
            <a:off x="1787856" y="1856096"/>
            <a:ext cx="25794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Budapest Vendég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0F4CDC94-4381-47F2-9C02-6D1AC4FC5FA3}"/>
              </a:ext>
            </a:extLst>
          </p:cNvPr>
          <p:cNvSpPr txBox="1"/>
          <p:nvPr/>
        </p:nvSpPr>
        <p:spPr>
          <a:xfrm>
            <a:off x="5841243" y="2860511"/>
            <a:ext cx="41762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hu-HU" dirty="0"/>
              <a:t>Egy bútorozott, kanapékkal felszerelt, közösségi rész</a:t>
            </a:r>
          </a:p>
          <a:p>
            <a:pPr marL="342900" indent="-342900">
              <a:buFont typeface="+mj-lt"/>
              <a:buAutoNum type="arabicPeriod"/>
            </a:pPr>
            <a:r>
              <a:rPr lang="hu-HU" dirty="0"/>
              <a:t>Itt </a:t>
            </a:r>
            <a:r>
              <a:rPr lang="hu-HU" dirty="0" err="1"/>
              <a:t>tekinthetőek</a:t>
            </a:r>
            <a:r>
              <a:rPr lang="hu-HU" dirty="0"/>
              <a:t> meg a képek</a:t>
            </a:r>
          </a:p>
        </p:txBody>
      </p:sp>
    </p:spTree>
    <p:extLst>
      <p:ext uri="{BB962C8B-B14F-4D97-AF65-F5344CB8AC3E}">
        <p14:creationId xmlns:p14="http://schemas.microsoft.com/office/powerpoint/2010/main" val="238560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47D9C040-4FB8-45D3-A65F-F7162CC830F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13948" y="2114195"/>
            <a:ext cx="4076700" cy="284797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ABBCC215-8F86-42A1-B9D4-0A03DC40823E}"/>
              </a:ext>
            </a:extLst>
          </p:cNvPr>
          <p:cNvSpPr txBox="1"/>
          <p:nvPr/>
        </p:nvSpPr>
        <p:spPr>
          <a:xfrm>
            <a:off x="1917652" y="1323833"/>
            <a:ext cx="3330054" cy="36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OSPF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CC6D042C-3B98-44EF-ACF0-7690C7C0A86C}"/>
              </a:ext>
            </a:extLst>
          </p:cNvPr>
          <p:cNvSpPr txBox="1"/>
          <p:nvPr/>
        </p:nvSpPr>
        <p:spPr>
          <a:xfrm>
            <a:off x="5704764" y="1692322"/>
            <a:ext cx="444917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hu-HU" b="1" dirty="0"/>
              <a:t>VPN </a:t>
            </a:r>
            <a:r>
              <a:rPr lang="hu-HU" b="1" dirty="0" err="1"/>
              <a:t>Tunnel</a:t>
            </a:r>
            <a:endParaRPr lang="hu-HU" b="1" dirty="0"/>
          </a:p>
          <a:p>
            <a:pPr lvl="0"/>
            <a:r>
              <a:rPr lang="hu-HU" dirty="0"/>
              <a:t>A sárgával jelölt kapcsolat </a:t>
            </a:r>
            <a:r>
              <a:rPr lang="hu-HU" b="1" dirty="0"/>
              <a:t>titkosított VPN alagút</a:t>
            </a:r>
            <a:endParaRPr lang="hu-HU" dirty="0"/>
          </a:p>
          <a:p>
            <a:pPr lvl="0"/>
            <a:r>
              <a:rPr lang="hu-HU" dirty="0"/>
              <a:t>Az alagút biztosítja:</a:t>
            </a:r>
          </a:p>
          <a:p>
            <a:pPr lvl="1"/>
            <a:r>
              <a:rPr lang="hu-HU" dirty="0"/>
              <a:t>biztonságos kommunikációt a telephelyek között</a:t>
            </a:r>
          </a:p>
          <a:p>
            <a:pPr lvl="1"/>
            <a:r>
              <a:rPr lang="hu-HU" dirty="0"/>
              <a:t>egységes </a:t>
            </a:r>
            <a:r>
              <a:rPr lang="hu-HU" dirty="0" err="1"/>
              <a:t>routingot</a:t>
            </a:r>
            <a:r>
              <a:rPr lang="hu-HU" dirty="0"/>
              <a:t> az OSPF számára</a:t>
            </a:r>
          </a:p>
          <a:p>
            <a:pPr lvl="1"/>
            <a:endParaRPr lang="hu-HU" dirty="0"/>
          </a:p>
          <a:p>
            <a:pPr lvl="0"/>
            <a:r>
              <a:rPr lang="hu-HU" dirty="0"/>
              <a:t>A VPN az </a:t>
            </a:r>
            <a:r>
              <a:rPr lang="hu-HU" b="1" dirty="0"/>
              <a:t>OSPF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 része</a:t>
            </a:r>
          </a:p>
          <a:p>
            <a:pPr lvl="0"/>
            <a:r>
              <a:rPr lang="hu-HU" b="1" dirty="0" err="1"/>
              <a:t>Routing</a:t>
            </a:r>
            <a:endParaRPr lang="hu-HU" b="1" dirty="0"/>
          </a:p>
          <a:p>
            <a:pPr lvl="0"/>
            <a:r>
              <a:rPr lang="hu-HU" b="1" dirty="0"/>
              <a:t>OSPFv2 (IPv4)</a:t>
            </a:r>
            <a:r>
              <a:rPr lang="hu-HU" dirty="0"/>
              <a:t> és </a:t>
            </a:r>
            <a:r>
              <a:rPr lang="hu-HU" b="1" dirty="0"/>
              <a:t>OSPFv3 (IPv6)</a:t>
            </a:r>
            <a:endParaRPr lang="hu-HU" dirty="0"/>
          </a:p>
          <a:p>
            <a:pPr lvl="0"/>
            <a:r>
              <a:rPr lang="hu-HU" dirty="0"/>
              <a:t>Minden router az </a:t>
            </a:r>
            <a:r>
              <a:rPr lang="hu-HU" b="1" dirty="0" err="1"/>
              <a:t>Area</a:t>
            </a:r>
            <a:r>
              <a:rPr lang="hu-HU" b="1" dirty="0"/>
              <a:t> 0</a:t>
            </a:r>
            <a:r>
              <a:rPr lang="hu-HU" dirty="0"/>
              <a:t>-hoz csatlakozik</a:t>
            </a:r>
          </a:p>
          <a:p>
            <a:pPr lvl="0"/>
            <a:r>
              <a:rPr lang="hu-HU" dirty="0"/>
              <a:t>Dinamikus útvonalcsere a VPN-en keresztül</a:t>
            </a:r>
          </a:p>
          <a:p>
            <a:pPr marL="342900" indent="-342900">
              <a:buFont typeface="+mj-lt"/>
              <a:buAutoNum type="arabicPeriod"/>
            </a:pP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2985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30CDEB7F-B80D-402A-91B6-0BCC21E54E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0149" y="2510331"/>
            <a:ext cx="3174365" cy="2656205"/>
          </a:xfrm>
          <a:prstGeom prst="rect">
            <a:avLst/>
          </a:prstGeom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EC0075BE-BB89-4DFC-9513-CB06ACBD23B3}"/>
              </a:ext>
            </a:extLst>
          </p:cNvPr>
          <p:cNvSpPr txBox="1"/>
          <p:nvPr/>
        </p:nvSpPr>
        <p:spPr>
          <a:xfrm>
            <a:off x="1173707" y="2019869"/>
            <a:ext cx="2156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Budaörs Iroda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D7BE95BD-71D6-49B3-970D-E3AC883BBD1D}"/>
              </a:ext>
            </a:extLst>
          </p:cNvPr>
          <p:cNvSpPr txBox="1"/>
          <p:nvPr/>
        </p:nvSpPr>
        <p:spPr>
          <a:xfrm>
            <a:off x="5295331" y="2457440"/>
            <a:ext cx="450376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kialakítás támogatja:</a:t>
            </a:r>
          </a:p>
          <a:p>
            <a:pPr lvl="0"/>
            <a:r>
              <a:rPr lang="hu-HU" dirty="0"/>
              <a:t>	a </a:t>
            </a:r>
            <a:r>
              <a:rPr lang="hu-HU" dirty="0" err="1"/>
              <a:t>skálázhatóságot</a:t>
            </a:r>
            <a:endParaRPr lang="hu-HU" dirty="0"/>
          </a:p>
          <a:p>
            <a:pPr lvl="0"/>
            <a:r>
              <a:rPr lang="hu-HU" dirty="0"/>
              <a:t>	a redundanciát</a:t>
            </a:r>
          </a:p>
          <a:p>
            <a:pPr lvl="0"/>
            <a:r>
              <a:rPr lang="hu-HU" dirty="0"/>
              <a:t>	a STP és </a:t>
            </a:r>
            <a:r>
              <a:rPr lang="hu-HU" dirty="0" err="1"/>
              <a:t>EtherChannel</a:t>
            </a:r>
            <a:r>
              <a:rPr lang="hu-HU" dirty="0"/>
              <a:t> működését</a:t>
            </a:r>
          </a:p>
          <a:p>
            <a:pPr lvl="0"/>
            <a:endParaRPr lang="hu-HU" dirty="0"/>
          </a:p>
          <a:p>
            <a:pPr lvl="0"/>
            <a:endParaRPr lang="hu-HU" dirty="0"/>
          </a:p>
          <a:p>
            <a:pPr lvl="0"/>
            <a:r>
              <a:rPr lang="hu-HU" b="1" dirty="0"/>
              <a:t>VLAN 10</a:t>
            </a:r>
            <a:r>
              <a:rPr lang="hu-HU" dirty="0"/>
              <a:t> – adminisztráció (</a:t>
            </a:r>
            <a:r>
              <a:rPr lang="hu-HU" dirty="0" err="1"/>
              <a:t>admin</a:t>
            </a:r>
            <a:r>
              <a:rPr lang="hu-HU" dirty="0"/>
              <a:t> PC-k)</a:t>
            </a:r>
          </a:p>
          <a:p>
            <a:pPr lvl="0"/>
            <a:r>
              <a:rPr lang="hu-HU" b="1" dirty="0"/>
              <a:t>VLAN 50</a:t>
            </a:r>
            <a:r>
              <a:rPr lang="hu-HU" dirty="0"/>
              <a:t> – A blokk</a:t>
            </a:r>
          </a:p>
          <a:p>
            <a:pPr lvl="0"/>
            <a:r>
              <a:rPr lang="hu-HU" b="1" dirty="0"/>
              <a:t>VLAN 60</a:t>
            </a:r>
            <a:r>
              <a:rPr lang="hu-HU" dirty="0"/>
              <a:t> – B blokk</a:t>
            </a:r>
          </a:p>
          <a:p>
            <a:pPr lvl="0"/>
            <a:r>
              <a:rPr lang="hu-HU" b="1" dirty="0"/>
              <a:t>VLAN 70</a:t>
            </a:r>
            <a:r>
              <a:rPr lang="hu-HU" dirty="0"/>
              <a:t> – C blokk</a:t>
            </a:r>
          </a:p>
          <a:p>
            <a:pPr lvl="0"/>
            <a:r>
              <a:rPr lang="hu-HU" b="1" dirty="0"/>
              <a:t>VLAN 80</a:t>
            </a:r>
            <a:r>
              <a:rPr lang="hu-HU" dirty="0"/>
              <a:t> – D blokk</a:t>
            </a:r>
          </a:p>
          <a:p>
            <a:pPr lvl="0"/>
            <a:r>
              <a:rPr lang="hu-HU" b="1" dirty="0"/>
              <a:t>VLAN 99</a:t>
            </a:r>
            <a:r>
              <a:rPr lang="hu-HU" dirty="0"/>
              <a:t> – </a:t>
            </a:r>
            <a:r>
              <a:rPr lang="hu-HU" dirty="0" err="1"/>
              <a:t>Native</a:t>
            </a:r>
            <a:r>
              <a:rPr lang="hu-HU" dirty="0"/>
              <a:t> VLAN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700957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F62E0D5-56F6-44B5-A794-6C32DFEEA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Recepció</a:t>
            </a:r>
            <a:br>
              <a:rPr lang="hu-HU" dirty="0">
                <a:effectLst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6DFE46C-3C9F-4940-96EE-F91A4E838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vezetékes kliensek egy </a:t>
            </a:r>
            <a:r>
              <a:rPr lang="hu-HU" b="1" dirty="0" err="1">
                <a:effectLst/>
              </a:rPr>
              <a:t>access</a:t>
            </a:r>
            <a:r>
              <a:rPr lang="hu-HU" b="1" dirty="0">
                <a:effectLst/>
              </a:rPr>
              <a:t> </a:t>
            </a:r>
            <a:r>
              <a:rPr lang="hu-HU" b="1" dirty="0" err="1">
                <a:effectLst/>
              </a:rPr>
              <a:t>switchhez</a:t>
            </a:r>
            <a:r>
              <a:rPr lang="hu-HU" dirty="0">
                <a:effectLst/>
              </a:rPr>
              <a:t> csatlakoznak csillag topológiában.</a:t>
            </a:r>
          </a:p>
          <a:p>
            <a:r>
              <a:rPr lang="hu-HU" dirty="0">
                <a:effectLst/>
              </a:rPr>
              <a:t>Ez a struktúra stabil, nagy sávszélességű kapcsolatot biztosít az irodai munkaállomások számára.</a:t>
            </a:r>
            <a:endParaRPr lang="hu-HU" dirty="0"/>
          </a:p>
        </p:txBody>
      </p:sp>
      <p:pic>
        <p:nvPicPr>
          <p:cNvPr id="4" name="image64.png">
            <a:extLst>
              <a:ext uri="{FF2B5EF4-FFF2-40B4-BE49-F238E27FC236}">
                <a16:creationId xmlns:a16="http://schemas.microsoft.com/office/drawing/2014/main" id="{F3CFC010-1015-4304-98E1-7F0577FFF55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771197" y="3429000"/>
            <a:ext cx="6264458" cy="2440172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962454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497B8D-6DBE-4E34-95A7-E11C953F3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Szerverek</a:t>
            </a:r>
            <a:br>
              <a:rPr lang="hu-HU" dirty="0">
                <a:effectLst/>
              </a:rPr>
            </a:b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1A57436-47F0-4C09-92E9-AB2495328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>
                <a:effectLst/>
              </a:rPr>
              <a:t>Bevezetés</a:t>
            </a:r>
          </a:p>
          <a:p>
            <a:r>
              <a:rPr lang="hu-HU" dirty="0">
                <a:effectLst/>
              </a:rPr>
              <a:t>A jelen dokumentáció a </a:t>
            </a:r>
            <a:r>
              <a:rPr lang="hu-HU" b="1" dirty="0" err="1">
                <a:effectLst/>
              </a:rPr>
              <a:t>NotifyPhotography</a:t>
            </a:r>
            <a:r>
              <a:rPr lang="hu-HU" dirty="0">
                <a:effectLst/>
              </a:rPr>
              <a:t> fotóstúdió informatikai infrastruktúrájának központi elemét képező Linux szerver bemutatását tartalmazza. 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88991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783DDC-C332-4CF5-85BC-49A819386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Hálózati konfiguráció</a:t>
            </a:r>
            <a:endParaRPr lang="hu-HU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045032D5-5956-40C4-8BBF-422C3FF1E60B}"/>
              </a:ext>
            </a:extLst>
          </p:cNvPr>
          <p:cNvSpPr txBox="1"/>
          <p:nvPr/>
        </p:nvSpPr>
        <p:spPr>
          <a:xfrm>
            <a:off x="4410075" y="2600325"/>
            <a:ext cx="70199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statikus IP alkalmazása biztosítja, hogy:</a:t>
            </a:r>
          </a:p>
          <a:p>
            <a:r>
              <a:rPr lang="hu-HU" dirty="0"/>
              <a:t>●	A DNS rekordok fix címre mutassanak</a:t>
            </a:r>
          </a:p>
          <a:p>
            <a:r>
              <a:rPr lang="hu-HU" dirty="0"/>
              <a:t>●	A port </a:t>
            </a:r>
            <a:r>
              <a:rPr lang="hu-HU" dirty="0" err="1"/>
              <a:t>forwarding</a:t>
            </a:r>
            <a:r>
              <a:rPr lang="hu-HU" dirty="0"/>
              <a:t> stabil maradjon</a:t>
            </a:r>
          </a:p>
          <a:p>
            <a:r>
              <a:rPr lang="hu-HU" dirty="0"/>
              <a:t>●	A szolgáltatások elérhetősége ne változzon újraindítás után</a:t>
            </a:r>
          </a:p>
          <a:p>
            <a:endParaRPr lang="hu-HU" dirty="0"/>
          </a:p>
        </p:txBody>
      </p:sp>
      <p:pic>
        <p:nvPicPr>
          <p:cNvPr id="9" name="image22.png">
            <a:extLst>
              <a:ext uri="{FF2B5EF4-FFF2-40B4-BE49-F238E27FC236}">
                <a16:creationId xmlns:a16="http://schemas.microsoft.com/office/drawing/2014/main" id="{F0BE6408-BA1D-433B-812F-F882BEF5A67D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96949" y="3080067"/>
            <a:ext cx="3088757" cy="2644457"/>
          </a:xfrm>
          <a:prstGeom prst="rect">
            <a:avLst/>
          </a:prstGeom>
          <a:ln/>
        </p:spPr>
      </p:pic>
      <p:pic>
        <p:nvPicPr>
          <p:cNvPr id="13" name="image45.png">
            <a:extLst>
              <a:ext uri="{FF2B5EF4-FFF2-40B4-BE49-F238E27FC236}">
                <a16:creationId xmlns:a16="http://schemas.microsoft.com/office/drawing/2014/main" id="{8272B297-8795-445A-BA70-6A1C09C5DF6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89123" y="4268468"/>
            <a:ext cx="4461828" cy="1711449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447245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127C7D-C570-4AAD-8084-245AE57B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effectLst/>
              </a:rPr>
              <a:t>Domain</a:t>
            </a:r>
            <a:r>
              <a:rPr lang="hu-HU" dirty="0">
                <a:effectLst/>
              </a:rPr>
              <a:t> – notify.hu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02B6F90-5FA3-45C5-8E0F-7554145BE9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620" y="2077014"/>
            <a:ext cx="10353762" cy="3695136"/>
          </a:xfrm>
        </p:spPr>
        <p:txBody>
          <a:bodyPr/>
          <a:lstStyle/>
          <a:p>
            <a:r>
              <a:rPr lang="hu-HU" dirty="0"/>
              <a:t>A rendszer egy saját </a:t>
            </a:r>
            <a:r>
              <a:rPr lang="hu-HU" dirty="0" err="1"/>
              <a:t>domain</a:t>
            </a:r>
            <a:r>
              <a:rPr lang="hu-HU" dirty="0"/>
              <a:t> név alatt működik: notify.hu</a:t>
            </a:r>
          </a:p>
          <a:p>
            <a:r>
              <a:rPr lang="hu-HU" dirty="0"/>
              <a:t>A </a:t>
            </a:r>
            <a:r>
              <a:rPr lang="hu-HU" dirty="0" err="1"/>
              <a:t>domain</a:t>
            </a:r>
            <a:r>
              <a:rPr lang="hu-HU" dirty="0"/>
              <a:t>:</a:t>
            </a:r>
          </a:p>
          <a:p>
            <a:r>
              <a:rPr lang="hu-HU" dirty="0"/>
              <a:t>	DNS zónával rendelkezik</a:t>
            </a:r>
          </a:p>
          <a:p>
            <a:r>
              <a:rPr lang="hu-HU" dirty="0"/>
              <a:t>	A rekord a 192.168.4.10 IP címre mutat</a:t>
            </a:r>
          </a:p>
          <a:p>
            <a:r>
              <a:rPr lang="hu-HU" dirty="0"/>
              <a:t>	Webkiszolgálással össze van kapcsolva</a:t>
            </a:r>
          </a:p>
        </p:txBody>
      </p:sp>
      <p:pic>
        <p:nvPicPr>
          <p:cNvPr id="5" name="image30.png">
            <a:extLst>
              <a:ext uri="{FF2B5EF4-FFF2-40B4-BE49-F238E27FC236}">
                <a16:creationId xmlns:a16="http://schemas.microsoft.com/office/drawing/2014/main" id="{B51268FF-D0D2-4979-AB1F-7979BF1B8A94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005955" y="2651319"/>
            <a:ext cx="3728720" cy="35970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707057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FC28439-4EFF-46A6-9845-39433AF6D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Windows Server Infrastruktúra Dokumentáció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7313684-9A50-4DAD-8DE7-E199CCE78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>
                <a:effectLst/>
              </a:rPr>
              <a:t>A jelen dokumentáció a </a:t>
            </a:r>
            <a:r>
              <a:rPr lang="hu-HU" i="1" dirty="0" err="1">
                <a:effectLst/>
              </a:rPr>
              <a:t>NotifyPhotography</a:t>
            </a:r>
            <a:r>
              <a:rPr lang="hu-HU" dirty="0">
                <a:effectLst/>
              </a:rPr>
              <a:t> fotóstúdió Windows alapú szerverinfrastruktúráját mutatja be.</a:t>
            </a:r>
            <a:br>
              <a:rPr lang="hu-HU" dirty="0">
                <a:effectLst/>
              </a:rPr>
            </a:br>
            <a:endParaRPr lang="hu-HU" dirty="0">
              <a:effectLst/>
            </a:endParaRPr>
          </a:p>
          <a:p>
            <a:r>
              <a:rPr lang="hu-HU" dirty="0"/>
              <a:t>A szerver Windows Server 2022 operációs rendszeren fut.</a:t>
            </a:r>
          </a:p>
          <a:p>
            <a:pPr marL="0" indent="0">
              <a:buNone/>
            </a:pPr>
            <a:r>
              <a:rPr lang="hu-HU" dirty="0"/>
              <a:t>    2.1 Telepített szerepkörök</a:t>
            </a:r>
          </a:p>
          <a:p>
            <a:r>
              <a:rPr lang="hu-HU" dirty="0"/>
              <a:t>	</a:t>
            </a:r>
            <a:r>
              <a:rPr lang="hu-HU" dirty="0" err="1"/>
              <a:t>Active</a:t>
            </a:r>
            <a:r>
              <a:rPr lang="hu-HU" dirty="0"/>
              <a:t> </a:t>
            </a:r>
            <a:r>
              <a:rPr lang="hu-HU" dirty="0" err="1"/>
              <a:t>Directory</a:t>
            </a:r>
            <a:r>
              <a:rPr lang="hu-HU" dirty="0"/>
              <a:t> 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Services</a:t>
            </a:r>
            <a:endParaRPr lang="hu-HU" dirty="0"/>
          </a:p>
          <a:p>
            <a:r>
              <a:rPr lang="hu-HU" dirty="0"/>
              <a:t>	Windows DNS Server</a:t>
            </a:r>
          </a:p>
          <a:p>
            <a:r>
              <a:rPr lang="hu-HU" dirty="0"/>
              <a:t>	DHCP Server</a:t>
            </a:r>
          </a:p>
          <a:p>
            <a:r>
              <a:rPr lang="hu-HU" dirty="0"/>
              <a:t>	Internet </a:t>
            </a:r>
            <a:r>
              <a:rPr lang="hu-HU" dirty="0" err="1"/>
              <a:t>Information</a:t>
            </a:r>
            <a:r>
              <a:rPr lang="hu-HU" dirty="0"/>
              <a:t> </a:t>
            </a:r>
            <a:r>
              <a:rPr lang="hu-HU" dirty="0" err="1"/>
              <a:t>Services</a:t>
            </a:r>
            <a:r>
              <a:rPr lang="hu-HU" dirty="0"/>
              <a:t> (IIS)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488045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82EBD2-BEB1-424C-92BB-87E83A769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2800" dirty="0" err="1">
                <a:effectLst/>
              </a:rPr>
              <a:t>Active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Directory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Domain</a:t>
            </a:r>
            <a:r>
              <a:rPr lang="hu-HU" sz="2800" dirty="0">
                <a:effectLst/>
              </a:rPr>
              <a:t> </a:t>
            </a:r>
            <a:r>
              <a:rPr lang="hu-HU" sz="2800" dirty="0" err="1">
                <a:effectLst/>
              </a:rPr>
              <a:t>Services</a:t>
            </a:r>
            <a:r>
              <a:rPr lang="hu-HU" sz="2800" dirty="0">
                <a:effectLst/>
              </a:rPr>
              <a:t> (AD DS)</a:t>
            </a:r>
            <a:endParaRPr lang="hu-HU" sz="2800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ED6EE75-EAD1-4E1D-B75A-27741CD35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>
                <a:effectLst/>
              </a:rPr>
              <a:t>A létrehozott tartomány neve: </a:t>
            </a:r>
            <a:r>
              <a:rPr lang="hu-HU" b="1" dirty="0" err="1">
                <a:effectLst/>
              </a:rPr>
              <a:t>recepcio.local</a:t>
            </a:r>
            <a:r>
              <a:rPr lang="hu-HU" dirty="0">
                <a:effectLst/>
              </a:rPr>
              <a:t> </a:t>
            </a:r>
            <a:br>
              <a:rPr lang="hu-HU" dirty="0">
                <a:effectLst/>
              </a:rPr>
            </a:br>
            <a:r>
              <a:rPr lang="hu-HU" dirty="0">
                <a:effectLst/>
              </a:rPr>
              <a:t>A szerver elsődleges </a:t>
            </a:r>
            <a:r>
              <a:rPr lang="hu-HU" dirty="0" err="1">
                <a:effectLst/>
              </a:rPr>
              <a:t>Domain</a:t>
            </a:r>
            <a:r>
              <a:rPr lang="hu-HU" dirty="0">
                <a:effectLst/>
              </a:rPr>
              <a:t> </a:t>
            </a:r>
            <a:r>
              <a:rPr lang="hu-HU" dirty="0" err="1">
                <a:effectLst/>
              </a:rPr>
              <a:t>Controllerként</a:t>
            </a:r>
            <a:r>
              <a:rPr lang="hu-HU" dirty="0">
                <a:effectLst/>
              </a:rPr>
              <a:t> működik.</a:t>
            </a:r>
          </a:p>
          <a:p>
            <a:endParaRPr lang="hu-HU" dirty="0"/>
          </a:p>
        </p:txBody>
      </p:sp>
      <p:pic>
        <p:nvPicPr>
          <p:cNvPr id="4" name="image42.png" descr="Képernyőkép 2026-02-25 131007">
            <a:extLst>
              <a:ext uri="{FF2B5EF4-FFF2-40B4-BE49-F238E27FC236}">
                <a16:creationId xmlns:a16="http://schemas.microsoft.com/office/drawing/2014/main" id="{1B1FD10B-31AB-4531-BB70-24534C605A39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3207703"/>
            <a:ext cx="4047490" cy="2823298"/>
          </a:xfrm>
          <a:prstGeom prst="rect">
            <a:avLst/>
          </a:prstGeom>
          <a:ln/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64C8A44A-8A77-4F5F-954D-991C3EF7E965}"/>
              </a:ext>
            </a:extLst>
          </p:cNvPr>
          <p:cNvSpPr txBox="1"/>
          <p:nvPr/>
        </p:nvSpPr>
        <p:spPr>
          <a:xfrm>
            <a:off x="5305424" y="3724275"/>
            <a:ext cx="53244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A tartomány tartalmazza:</a:t>
            </a:r>
          </a:p>
          <a:p>
            <a:r>
              <a:rPr lang="hu-HU" dirty="0"/>
              <a:t>●	beépített </a:t>
            </a:r>
            <a:r>
              <a:rPr lang="hu-HU" dirty="0" err="1"/>
              <a:t>Security</a:t>
            </a:r>
            <a:r>
              <a:rPr lang="hu-HU" dirty="0"/>
              <a:t> Group-</a:t>
            </a:r>
            <a:r>
              <a:rPr lang="hu-HU" dirty="0" err="1"/>
              <a:t>okat</a:t>
            </a:r>
            <a:r>
              <a:rPr lang="hu-HU" dirty="0"/>
              <a:t>,</a:t>
            </a:r>
          </a:p>
          <a:p>
            <a:r>
              <a:rPr lang="hu-HU" dirty="0"/>
              <a:t>●	egyedi létrehozott csoportot: recepció,</a:t>
            </a:r>
          </a:p>
          <a:p>
            <a:r>
              <a:rPr lang="hu-HU" dirty="0"/>
              <a:t>●	felhasználói fiókokat (pl. Pintér Botond),</a:t>
            </a:r>
          </a:p>
          <a:p>
            <a:r>
              <a:rPr lang="hu-HU" dirty="0"/>
              <a:t>●	</a:t>
            </a:r>
            <a:r>
              <a:rPr lang="hu-HU" dirty="0" err="1"/>
              <a:t>Domain</a:t>
            </a:r>
            <a:r>
              <a:rPr lang="hu-HU" dirty="0"/>
              <a:t> </a:t>
            </a:r>
            <a:r>
              <a:rPr lang="hu-HU" dirty="0" err="1"/>
              <a:t>Admin</a:t>
            </a:r>
            <a:r>
              <a:rPr lang="hu-HU" dirty="0"/>
              <a:t> és Enterprise </a:t>
            </a:r>
            <a:r>
              <a:rPr lang="hu-HU" dirty="0" err="1"/>
              <a:t>Admin</a:t>
            </a:r>
            <a:r>
              <a:rPr lang="hu-HU" dirty="0"/>
              <a:t> csoportokat.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42063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3DC0973-7564-4080-BE1D-05DA10B55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DNS Infrastrukturális Kialakítás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6F8EC4F-F621-461E-9867-E1D6267B0F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>
                <a:effectLst/>
              </a:rPr>
              <a:t>Konfigurált zónák:</a:t>
            </a:r>
          </a:p>
          <a:p>
            <a:pPr lvl="0"/>
            <a:r>
              <a:rPr lang="hu-HU" b="1" dirty="0">
                <a:effectLst/>
              </a:rPr>
              <a:t>_</a:t>
            </a:r>
            <a:r>
              <a:rPr lang="hu-HU" b="1" dirty="0" err="1">
                <a:effectLst/>
              </a:rPr>
              <a:t>msdcs.recepcio.local</a:t>
            </a:r>
            <a:endParaRPr lang="hu-HU" dirty="0">
              <a:effectLst/>
            </a:endParaRPr>
          </a:p>
          <a:p>
            <a:pPr lvl="0"/>
            <a:r>
              <a:rPr lang="hu-HU" b="1" dirty="0" err="1">
                <a:effectLst/>
              </a:rPr>
              <a:t>recepcio.local</a:t>
            </a:r>
            <a:endParaRPr lang="hu-HU" dirty="0">
              <a:effectLst/>
            </a:endParaRPr>
          </a:p>
          <a:p>
            <a:pPr lvl="0"/>
            <a:r>
              <a:rPr lang="hu-HU" b="1" dirty="0">
                <a:effectLst/>
              </a:rPr>
              <a:t>notify.hu</a:t>
            </a:r>
            <a:endParaRPr lang="hu-HU" dirty="0">
              <a:effectLst/>
            </a:endParaRPr>
          </a:p>
          <a:p>
            <a:r>
              <a:rPr lang="hu-HU" dirty="0">
                <a:effectLst/>
              </a:rPr>
              <a:t>Mindhárom zóna:</a:t>
            </a:r>
          </a:p>
          <a:p>
            <a:pPr lvl="0"/>
            <a:r>
              <a:rPr lang="hu-HU" dirty="0">
                <a:effectLst/>
              </a:rPr>
              <a:t>AD-integrált </a:t>
            </a:r>
            <a:r>
              <a:rPr lang="hu-HU" dirty="0" err="1">
                <a:effectLst/>
              </a:rPr>
              <a:t>Primary</a:t>
            </a:r>
            <a:r>
              <a:rPr lang="hu-HU" dirty="0">
                <a:effectLst/>
              </a:rPr>
              <a:t> zóna,</a:t>
            </a:r>
          </a:p>
          <a:p>
            <a:pPr lvl="0"/>
            <a:r>
              <a:rPr lang="hu-HU" dirty="0">
                <a:effectLst/>
              </a:rPr>
              <a:t>automatikus replikációt biztosít,</a:t>
            </a:r>
          </a:p>
          <a:p>
            <a:pPr lvl="0"/>
            <a:r>
              <a:rPr lang="hu-HU" dirty="0">
                <a:effectLst/>
              </a:rPr>
              <a:t>támogatja a biztonságos dinamikus frissítést.</a:t>
            </a:r>
          </a:p>
          <a:p>
            <a:endParaRPr lang="hu-HU" dirty="0"/>
          </a:p>
        </p:txBody>
      </p:sp>
      <p:pic>
        <p:nvPicPr>
          <p:cNvPr id="4" name="image71.png" descr="Képernyőkép 2026-02-25 131107">
            <a:extLst>
              <a:ext uri="{FF2B5EF4-FFF2-40B4-BE49-F238E27FC236}">
                <a16:creationId xmlns:a16="http://schemas.microsoft.com/office/drawing/2014/main" id="{697A00A4-8D44-4841-9A43-49A567E0F0D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482590" y="1935921"/>
            <a:ext cx="4975860" cy="3346147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68661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4646CCC-4462-4BFF-9A14-15989E01B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effectLst/>
              </a:rPr>
              <a:t>DHCP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9C3F3C7-420A-4B63-9FCD-DF0C0B0E8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038632"/>
            <a:ext cx="10353762" cy="3695136"/>
          </a:xfrm>
        </p:spPr>
        <p:txBody>
          <a:bodyPr/>
          <a:lstStyle/>
          <a:p>
            <a:r>
              <a:rPr lang="hu-HU" dirty="0">
                <a:effectLst/>
              </a:rPr>
              <a:t>Konfigurált tartomány: </a:t>
            </a:r>
            <a:r>
              <a:rPr lang="hu-HU" b="1" dirty="0">
                <a:effectLst/>
              </a:rPr>
              <a:t>192.168.21.0/24</a:t>
            </a:r>
            <a:endParaRPr lang="hu-HU" dirty="0">
              <a:effectLst/>
            </a:endParaRPr>
          </a:p>
          <a:p>
            <a:r>
              <a:rPr lang="hu-HU" dirty="0">
                <a:effectLst/>
              </a:rPr>
              <a:t>A DHCP biztosítja:</a:t>
            </a:r>
          </a:p>
          <a:p>
            <a:pPr lvl="0"/>
            <a:r>
              <a:rPr lang="hu-HU" dirty="0">
                <a:effectLst/>
              </a:rPr>
              <a:t>automatikus IP kiosztást,</a:t>
            </a:r>
          </a:p>
          <a:p>
            <a:pPr lvl="0"/>
            <a:r>
              <a:rPr lang="hu-HU" dirty="0" err="1">
                <a:effectLst/>
              </a:rPr>
              <a:t>lease</a:t>
            </a:r>
            <a:r>
              <a:rPr lang="hu-HU" dirty="0">
                <a:effectLst/>
              </a:rPr>
              <a:t> kezelést,</a:t>
            </a:r>
          </a:p>
          <a:p>
            <a:r>
              <a:rPr lang="hu-HU" dirty="0">
                <a:effectLst/>
              </a:rPr>
              <a:t>központi hálózati konfigurációt</a:t>
            </a:r>
            <a:endParaRPr lang="hu-HU" dirty="0"/>
          </a:p>
        </p:txBody>
      </p:sp>
      <p:pic>
        <p:nvPicPr>
          <p:cNvPr id="11" name="image11.png" descr="Képernyőkép 2026-02-25 131044">
            <a:extLst>
              <a:ext uri="{FF2B5EF4-FFF2-40B4-BE49-F238E27FC236}">
                <a16:creationId xmlns:a16="http://schemas.microsoft.com/office/drawing/2014/main" id="{9677E457-5904-45B6-A9F2-573D1EBB9FA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691822" y="2749268"/>
            <a:ext cx="4995227" cy="29845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659081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10FF34-4542-4559-B12D-C04D9CCDC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Fájl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CE7655-F381-4450-9240-DADA6C2C5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37.png" descr="Képernyőkép 2026-02-27 154247">
            <a:extLst>
              <a:ext uri="{FF2B5EF4-FFF2-40B4-BE49-F238E27FC236}">
                <a16:creationId xmlns:a16="http://schemas.microsoft.com/office/drawing/2014/main" id="{26F5A218-EE6E-4DA5-B9E4-7496D59733F2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24443" y="2096064"/>
            <a:ext cx="4168775" cy="3973830"/>
          </a:xfrm>
          <a:prstGeom prst="rect">
            <a:avLst/>
          </a:prstGeom>
          <a:ln/>
        </p:spPr>
      </p:pic>
      <p:pic>
        <p:nvPicPr>
          <p:cNvPr id="5" name="image26.png" descr="Képernyőkép 2026-02-27 153930">
            <a:extLst>
              <a:ext uri="{FF2B5EF4-FFF2-40B4-BE49-F238E27FC236}">
                <a16:creationId xmlns:a16="http://schemas.microsoft.com/office/drawing/2014/main" id="{93F47596-09F4-4576-9B98-4859A956444C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5636143" y="3010464"/>
            <a:ext cx="5495598" cy="278073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7510553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1F6BEB5-82C2-4569-9578-660D5CA7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Backup rendszer</a:t>
            </a:r>
          </a:p>
        </p:txBody>
      </p:sp>
      <p:pic>
        <p:nvPicPr>
          <p:cNvPr id="4" name="image34.png">
            <a:extLst>
              <a:ext uri="{FF2B5EF4-FFF2-40B4-BE49-F238E27FC236}">
                <a16:creationId xmlns:a16="http://schemas.microsoft.com/office/drawing/2014/main" id="{A02C3CDA-052A-464C-96B5-98482E69B69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124923" y="2152650"/>
            <a:ext cx="4274779" cy="36957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348773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8FF36A8-91EE-4F0A-A8CA-3ABC7A94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Nyomtató megosztás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456141C-B145-458C-AF17-ED553B7E5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25.png">
            <a:extLst>
              <a:ext uri="{FF2B5EF4-FFF2-40B4-BE49-F238E27FC236}">
                <a16:creationId xmlns:a16="http://schemas.microsoft.com/office/drawing/2014/main" id="{6EA2B07B-DE69-414F-A2D5-233193DBDA1E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1270318" y="2096064"/>
            <a:ext cx="3539808" cy="3999865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677987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661DFEA-32B7-49FE-8730-A32C24AAF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Group Policy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345F4CC-3A61-4DCC-BB6C-EB67BE592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  <p:pic>
        <p:nvPicPr>
          <p:cNvPr id="4" name="image19.png">
            <a:extLst>
              <a:ext uri="{FF2B5EF4-FFF2-40B4-BE49-F238E27FC236}">
                <a16:creationId xmlns:a16="http://schemas.microsoft.com/office/drawing/2014/main" id="{B08911DE-111D-4958-B412-E3EC741E35BF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231270" y="2536472"/>
            <a:ext cx="5718810" cy="28143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63302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69C4C01-981F-424B-BB61-61DCF2FE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8. Összességében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3821E7C-A09F-4723-8D30-924634F5F4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sz="2400" dirty="0"/>
              <a:t>A megtervezett hálózat vállalati szintű megbízhatóságot, </a:t>
            </a:r>
            <a:r>
              <a:rPr lang="hu-HU" sz="2400" dirty="0" err="1"/>
              <a:t>skálázhatóságot</a:t>
            </a:r>
            <a:r>
              <a:rPr lang="hu-HU" sz="2400" dirty="0"/>
              <a:t> és biztonságot garantál.</a:t>
            </a:r>
          </a:p>
          <a:p>
            <a:r>
              <a:rPr lang="hu-HU" sz="2400" dirty="0"/>
              <a:t> Az architektúra hosszú távú bővíthetőséget nyújt, és támogatja egy professzionális multimédiás produkciós környezet működési igényeit.</a:t>
            </a:r>
          </a:p>
        </p:txBody>
      </p:sp>
    </p:spTree>
    <p:extLst>
      <p:ext uri="{BB962C8B-B14F-4D97-AF65-F5344CB8AC3E}">
        <p14:creationId xmlns:p14="http://schemas.microsoft.com/office/powerpoint/2010/main" val="2793782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TM04033921[[fn=Damaszt]]</Template>
  <TotalTime>0</TotalTime>
  <Words>551</Words>
  <Application>Microsoft Office PowerPoint</Application>
  <PresentationFormat>Szélesvásznú</PresentationFormat>
  <Paragraphs>99</Paragraphs>
  <Slides>23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23</vt:i4>
      </vt:variant>
    </vt:vector>
  </HeadingPairs>
  <TitlesOfParts>
    <vt:vector size="28" baseType="lpstr">
      <vt:lpstr>Arial</vt:lpstr>
      <vt:lpstr>Bookman Old Style</vt:lpstr>
      <vt:lpstr>Cambria</vt:lpstr>
      <vt:lpstr>Rockwell</vt:lpstr>
      <vt:lpstr>Damask</vt:lpstr>
      <vt:lpstr>Notify Photography</vt:lpstr>
      <vt:lpstr>PowerPoint-bemutató</vt:lpstr>
      <vt:lpstr>PowerPoint-bemutató</vt:lpstr>
      <vt:lpstr>1. A PROJEKT CÉLJA</vt:lpstr>
      <vt:lpstr>2. Felépítés</vt:lpstr>
      <vt:lpstr>PowerPoint-bemutató</vt:lpstr>
      <vt:lpstr>PowerPoint-bemutató</vt:lpstr>
      <vt:lpstr>PowerPoint-bemutató</vt:lpstr>
      <vt:lpstr>PowerPoint-bemutató</vt:lpstr>
      <vt:lpstr>PowerPoint-bemutató</vt:lpstr>
      <vt:lpstr>Recepció </vt:lpstr>
      <vt:lpstr>Szerverek </vt:lpstr>
      <vt:lpstr>Hálózati konfiguráció</vt:lpstr>
      <vt:lpstr>Domain – notify.hu</vt:lpstr>
      <vt:lpstr>Windows Server Infrastruktúra Dokumentáció</vt:lpstr>
      <vt:lpstr>Active Directory Domain Services (AD DS)</vt:lpstr>
      <vt:lpstr>DNS Infrastrukturális Kialakítás</vt:lpstr>
      <vt:lpstr>DHCP</vt:lpstr>
      <vt:lpstr>Fájl megosztás</vt:lpstr>
      <vt:lpstr>Backup rendszer</vt:lpstr>
      <vt:lpstr>Nyomtató megosztás</vt:lpstr>
      <vt:lpstr>Group Policy</vt:lpstr>
      <vt:lpstr>8. Összességében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Notify Photography</dc:title>
  <dc:creator>Pintér Botond Sándor</dc:creator>
  <cp:lastModifiedBy>Pintér Botond Sándor</cp:lastModifiedBy>
  <cp:revision>12</cp:revision>
  <dcterms:created xsi:type="dcterms:W3CDTF">2026-02-16T10:25:25Z</dcterms:created>
  <dcterms:modified xsi:type="dcterms:W3CDTF">2026-03-23T08:16:53Z</dcterms:modified>
</cp:coreProperties>
</file>
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343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0211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988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0260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4730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554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5273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32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590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833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238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0462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5053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8995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4391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194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092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3D47C-1616-4A9D-BE43-14AF93C67A4E}" type="datetimeFigureOut">
              <a:rPr lang="hu-HU" smtClean="0"/>
              <a:t>2026. 02. 16.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2C808-D2ED-4A72-A140-EEF9B0D69A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40365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9012A2-B124-4188-9B22-9CA44ED14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Notify</a:t>
            </a:r>
            <a:r>
              <a:rPr lang="hu-HU" dirty="0"/>
              <a:t> </a:t>
            </a:r>
            <a:r>
              <a:rPr lang="hu-HU" dirty="0" err="1"/>
              <a:t>Photography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34E9C8C-9756-4719-9DC5-C9F6BB4B72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Ujszászi</a:t>
            </a:r>
            <a:r>
              <a:rPr lang="hu-HU" dirty="0"/>
              <a:t> Vivien, Pintér Botond</a:t>
            </a:r>
          </a:p>
        </p:txBody>
      </p:sp>
    </p:spTree>
    <p:extLst>
      <p:ext uri="{BB962C8B-B14F-4D97-AF65-F5344CB8AC3E}">
        <p14:creationId xmlns:p14="http://schemas.microsoft.com/office/powerpoint/2010/main" val="2790816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D80348-8BFF-4E22-8F37-8C26A89C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Projekt leírás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853D79-1CCA-4FC2-B28E-3E654A933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projekt célja egy teljes vállalati hálózati topológia megtervezése és megvalósítása egy professzionális fotós cég számára, amely két fizikai telephelyen működik.</a:t>
            </a:r>
          </a:p>
          <a:p>
            <a:r>
              <a:rPr lang="hu-HU" dirty="0"/>
              <a:t>Az infrastruktúra biztosítja a telephelyek közötti biztonságos, skálázható és magas rendelkezésre állású kommunikációt, miközben megfelel a vállalati szintű biztonsági és </a:t>
            </a:r>
            <a:r>
              <a:rPr lang="hu-HU" dirty="0" err="1"/>
              <a:t>routing</a:t>
            </a:r>
            <a:r>
              <a:rPr lang="hu-HU" dirty="0"/>
              <a:t> követelményeknek.</a:t>
            </a:r>
          </a:p>
        </p:txBody>
      </p:sp>
    </p:spTree>
    <p:extLst>
      <p:ext uri="{BB962C8B-B14F-4D97-AF65-F5344CB8AC3E}">
        <p14:creationId xmlns:p14="http://schemas.microsoft.com/office/powerpoint/2010/main" val="405996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6D665E-B000-4024-952A-9E8FCDEE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Hálózati architektúra áttekintése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E8D846-38AD-47E5-B402-7F92D266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hálózat két fő telephelyből áll:</a:t>
            </a:r>
          </a:p>
          <a:p>
            <a:r>
              <a:rPr lang="hu-HU" dirty="0"/>
              <a:t>A központi telephelyen található a </a:t>
            </a:r>
            <a:r>
              <a:rPr lang="hu-HU" dirty="0" err="1"/>
              <a:t>core</a:t>
            </a:r>
            <a:r>
              <a:rPr lang="hu-HU" dirty="0"/>
              <a:t> infrastruktúra, amely tartalmazza a </a:t>
            </a:r>
            <a:r>
              <a:rPr lang="hu-HU" dirty="0" err="1"/>
              <a:t>routing</a:t>
            </a:r>
            <a:r>
              <a:rPr lang="hu-HU" dirty="0"/>
              <a:t> rendszert, a hitelesítési szolgáltatásokat, a tárolási megoldásokat és az alkalmazásszervereket.</a:t>
            </a:r>
            <a:br>
              <a:rPr lang="hu-HU" dirty="0"/>
            </a:br>
            <a:r>
              <a:rPr lang="hu-HU" dirty="0"/>
              <a:t>A másodlagos telephely az irodai működést és a stúdió produkciós hálózatát szolgálja ki.</a:t>
            </a:r>
          </a:p>
          <a:p>
            <a:r>
              <a:rPr lang="hu-HU" dirty="0"/>
              <a:t>A két telephely site-</a:t>
            </a:r>
            <a:r>
              <a:rPr lang="hu-HU" dirty="0" err="1"/>
              <a:t>to</a:t>
            </a:r>
            <a:r>
              <a:rPr lang="hu-HU" dirty="0"/>
              <a:t>-site VPN kapcsolaton keresztül kommunikál egymással.</a:t>
            </a:r>
            <a:br>
              <a:rPr lang="hu-HU" dirty="0"/>
            </a:br>
            <a:r>
              <a:rPr lang="hu-HU" dirty="0"/>
              <a:t>A külső hálózati kapcsolat </a:t>
            </a:r>
            <a:r>
              <a:rPr lang="hu-HU" dirty="0" err="1"/>
              <a:t>Border</a:t>
            </a:r>
            <a:r>
              <a:rPr lang="hu-HU" dirty="0"/>
              <a:t> </a:t>
            </a:r>
            <a:r>
              <a:rPr lang="hu-HU" dirty="0" err="1"/>
              <a:t>Gateway</a:t>
            </a:r>
            <a:r>
              <a:rPr lang="hu-HU" dirty="0"/>
              <a:t> </a:t>
            </a:r>
            <a:r>
              <a:rPr lang="hu-HU" dirty="0" err="1"/>
              <a:t>Protocol</a:t>
            </a:r>
            <a:r>
              <a:rPr lang="hu-HU" dirty="0"/>
              <a:t> segítségével történik az internetszolgáltató irányába.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3567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FBED03-1B69-483E-BB9C-DF2E9096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3. </a:t>
            </a:r>
            <a:r>
              <a:rPr lang="hu-HU" dirty="0" err="1"/>
              <a:t>Core</a:t>
            </a:r>
            <a:r>
              <a:rPr lang="hu-HU" dirty="0"/>
              <a:t> infrastruktúra tervezés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506EF1-10B2-490F-BB1C-98107F95C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központi infrastruktúra tartalmazza a fő szerverfarmot és a </a:t>
            </a:r>
            <a:r>
              <a:rPr lang="hu-HU" dirty="0" err="1"/>
              <a:t>routing</a:t>
            </a:r>
            <a:r>
              <a:rPr lang="hu-HU" dirty="0"/>
              <a:t> gerinchálózatot.</a:t>
            </a:r>
            <a:br>
              <a:rPr lang="hu-HU" dirty="0"/>
            </a:br>
            <a:r>
              <a:rPr lang="hu-HU" dirty="0"/>
              <a:t>A szerverfarm központi adattárolást, hitelesítési szolgáltatásokat és alkalmazás </a:t>
            </a:r>
            <a:r>
              <a:rPr lang="hu-HU" dirty="0" err="1"/>
              <a:t>hostingot</a:t>
            </a:r>
            <a:r>
              <a:rPr lang="hu-HU" dirty="0"/>
              <a:t> biztosít.</a:t>
            </a:r>
          </a:p>
          <a:p>
            <a:r>
              <a:rPr lang="hu-HU" dirty="0"/>
              <a:t>A redundáns </a:t>
            </a:r>
            <a:r>
              <a:rPr lang="hu-HU" dirty="0" err="1"/>
              <a:t>switch</a:t>
            </a:r>
            <a:r>
              <a:rPr lang="hu-HU" dirty="0"/>
              <a:t> infrastruktúra biztosítja a hibatűrést és a folyamatos működést hardver meghibásodás esetén is.</a:t>
            </a:r>
            <a:br>
              <a:rPr lang="hu-HU" dirty="0"/>
            </a:br>
            <a:r>
              <a:rPr lang="hu-HU" dirty="0"/>
              <a:t>A </a:t>
            </a:r>
            <a:r>
              <a:rPr lang="hu-HU" dirty="0" err="1"/>
              <a:t>routing</a:t>
            </a:r>
            <a:r>
              <a:rPr lang="hu-HU" dirty="0"/>
              <a:t> réteg belső kommunikációra dinamikus </a:t>
            </a:r>
            <a:r>
              <a:rPr lang="hu-HU" dirty="0" err="1"/>
              <a:t>routing</a:t>
            </a:r>
            <a:r>
              <a:rPr lang="hu-HU" dirty="0"/>
              <a:t> protokollokat használ, míg kifelé BGP </a:t>
            </a:r>
            <a:r>
              <a:rPr lang="hu-HU" dirty="0" err="1"/>
              <a:t>routing</a:t>
            </a:r>
            <a:r>
              <a:rPr lang="hu-HU" dirty="0"/>
              <a:t> működik.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0765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80DD94-F1AD-4D98-832A-22CB5D33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4. Hálózati szegmentációs stratégia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DFD7DA-8B7D-4B4D-A151-9D879EFE4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logikai szegmentáció VLAN technológiával valósul meg.</a:t>
            </a:r>
            <a:br>
              <a:rPr lang="hu-HU" dirty="0"/>
            </a:br>
            <a:r>
              <a:rPr lang="hu-HU" dirty="0"/>
              <a:t>Ez növeli a biztonságot, elkülöníti a forgalmat és csökkenti a </a:t>
            </a:r>
            <a:r>
              <a:rPr lang="hu-HU" dirty="0" err="1"/>
              <a:t>broadcast</a:t>
            </a:r>
            <a:r>
              <a:rPr lang="hu-HU" dirty="0"/>
              <a:t> </a:t>
            </a:r>
            <a:r>
              <a:rPr lang="hu-HU" dirty="0" err="1"/>
              <a:t>domainek</a:t>
            </a:r>
            <a:r>
              <a:rPr lang="hu-HU" dirty="0"/>
              <a:t> méretét.</a:t>
            </a:r>
          </a:p>
          <a:p>
            <a:r>
              <a:rPr lang="hu-HU" dirty="0"/>
              <a:t>Külön VLAN-ok kerültek kialakításra az alábbiak számára:</a:t>
            </a:r>
          </a:p>
          <a:p>
            <a:pPr lvl="1"/>
            <a:r>
              <a:rPr lang="hu-HU" dirty="0"/>
              <a:t>Management forgalom</a:t>
            </a:r>
          </a:p>
          <a:p>
            <a:pPr lvl="1"/>
            <a:r>
              <a:rPr lang="hu-HU" dirty="0"/>
              <a:t>Kliens eszközök</a:t>
            </a:r>
          </a:p>
          <a:p>
            <a:pPr lvl="1"/>
            <a:r>
              <a:rPr lang="hu-HU" dirty="0" err="1"/>
              <a:t>IoT</a:t>
            </a:r>
            <a:r>
              <a:rPr lang="hu-HU" dirty="0"/>
              <a:t> és egyéb kiegészítő rendszerek</a:t>
            </a:r>
          </a:p>
          <a:p>
            <a:pPr lvl="1"/>
            <a:r>
              <a:rPr lang="hu-HU" dirty="0"/>
              <a:t>Alapértelmezett / </a:t>
            </a:r>
            <a:r>
              <a:rPr lang="hu-HU" dirty="0" err="1"/>
              <a:t>native</a:t>
            </a:r>
            <a:r>
              <a:rPr lang="hu-HU" dirty="0"/>
              <a:t> forgalom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12678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BFE4F5-F05C-4DA5-98B4-D17657F5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5. Másodlagos telephely infrastruktúra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9CA29D-9B5C-446E-B2EE-4FFFB3E6A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másodlagos telephely az adminisztratív működést és a produkciós munkafolyamatokat támogatja.</a:t>
            </a:r>
            <a:br>
              <a:rPr lang="hu-HU" dirty="0"/>
            </a:br>
            <a:r>
              <a:rPr lang="hu-HU" dirty="0"/>
              <a:t>A hálózat kialakítása lehetővé teszi a nagy sávszélességű adatátvitelt, amely szükséges a multimédiás munkafolyamatokhoz, például RAW képek és videók feldolgozásához.</a:t>
            </a:r>
          </a:p>
        </p:txBody>
      </p:sp>
    </p:spTree>
    <p:extLst>
      <p:ext uri="{BB962C8B-B14F-4D97-AF65-F5344CB8AC3E}">
        <p14:creationId xmlns:p14="http://schemas.microsoft.com/office/powerpoint/2010/main" val="713302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544694-D9E3-44BB-88F2-2BC3B0DF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6. Külső kapcsolat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AE4F6B-55DB-4CB9-B237-CFF4C9F8C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külső kommunikáció BGP </a:t>
            </a:r>
            <a:r>
              <a:rPr lang="hu-HU" dirty="0" err="1"/>
              <a:t>routing</a:t>
            </a:r>
            <a:r>
              <a:rPr lang="hu-HU" dirty="0"/>
              <a:t> segítségével történik.</a:t>
            </a:r>
          </a:p>
          <a:p>
            <a:r>
              <a:rPr lang="hu-HU" dirty="0"/>
              <a:t>A publikus szolgáltatások egy logikailag elkülönített szegmensben helyezkednek el, amely DMZ-</a:t>
            </a:r>
            <a:r>
              <a:rPr lang="hu-HU" dirty="0" err="1"/>
              <a:t>hez</a:t>
            </a:r>
            <a:r>
              <a:rPr lang="hu-HU" dirty="0"/>
              <a:t> hasonló kialakítású.</a:t>
            </a:r>
          </a:p>
          <a:p>
            <a:r>
              <a:rPr lang="hu-HU" dirty="0"/>
              <a:t>Ez csökkenti a belső infrastruktúra kockázati kitettségét.</a:t>
            </a:r>
          </a:p>
        </p:txBody>
      </p:sp>
    </p:spTree>
    <p:extLst>
      <p:ext uri="{BB962C8B-B14F-4D97-AF65-F5344CB8AC3E}">
        <p14:creationId xmlns:p14="http://schemas.microsoft.com/office/powerpoint/2010/main" val="105574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895159-5C18-4F2F-A60C-4FC33E34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7. Biztonsági megvalósítás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B70C24-1855-4033-864A-3C20FA95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biztonság több rétegben van megvalósítva:</a:t>
            </a:r>
          </a:p>
          <a:p>
            <a:r>
              <a:rPr lang="hu-HU" dirty="0"/>
              <a:t>Logikai szegmentáció</a:t>
            </a:r>
          </a:p>
          <a:p>
            <a:r>
              <a:rPr lang="hu-HU" dirty="0"/>
              <a:t>Access </a:t>
            </a:r>
            <a:r>
              <a:rPr lang="hu-HU" dirty="0" err="1"/>
              <a:t>control</a:t>
            </a:r>
            <a:r>
              <a:rPr lang="hu-HU" dirty="0"/>
              <a:t> szűrés</a:t>
            </a:r>
          </a:p>
          <a:p>
            <a:r>
              <a:rPr lang="hu-HU" dirty="0"/>
              <a:t>Titkosított kommunikációs csatornák</a:t>
            </a:r>
          </a:p>
          <a:p>
            <a:r>
              <a:rPr lang="hu-HU" dirty="0"/>
              <a:t>Elkülönített publikus szolgáltatások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4461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237C4D-F988-4F27-BBD6-539CA40E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8. Összegzés</a:t>
            </a:r>
            <a:br>
              <a:rPr lang="hu-HU" b="1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E6771E-31F5-4414-B02E-7DF047A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megtervezett hálózat vállalati szintű megbízhatóságot, </a:t>
            </a:r>
            <a:r>
              <a:rPr lang="hu-HU" dirty="0" err="1"/>
              <a:t>skálázhatóságot</a:t>
            </a:r>
            <a:r>
              <a:rPr lang="hu-HU" dirty="0"/>
              <a:t> és biztonságot biztosít.</a:t>
            </a:r>
          </a:p>
          <a:p>
            <a:r>
              <a:rPr lang="hu-HU" dirty="0"/>
              <a:t>Az architektúra hosszú távon is bővíthető, és teljes mértékben támogatja egy professzionális multimédiás gyártási környezet működési igényeit.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960236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Damaszt</Template>
  <TotalTime>0</TotalTime>
  <Words>381</Words>
  <Application>Microsoft Office PowerPoint</Application>
  <PresentationFormat>Szélesvásznú</PresentationFormat>
  <Paragraphs>34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Notify Photography</vt:lpstr>
      <vt:lpstr>1. Projekt leírás</vt:lpstr>
      <vt:lpstr>2. Hálózati architektúra áttekintése</vt:lpstr>
      <vt:lpstr>3. Core infrastruktúra tervezés</vt:lpstr>
      <vt:lpstr>4. Hálózati szegmentációs stratégia</vt:lpstr>
      <vt:lpstr>5. Másodlagos telephely infrastruktúra</vt:lpstr>
      <vt:lpstr>6. Külső kapcsolat</vt:lpstr>
      <vt:lpstr>7. Biztonsági megvalósítás</vt:lpstr>
      <vt:lpstr>8. Összegzés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Notify Photography</dc:title>
  <dc:creator>Pintér Botond Sándor</dc:creator>
  <cp:lastModifiedBy>Pintér Botond Sándor</cp:lastModifiedBy>
  <cp:revision>1</cp:revision>
  <dcterms:created xsi:type="dcterms:W3CDTF">2026-02-16T10:33:51Z</dcterms:created>
  <dcterms:modified xsi:type="dcterms:W3CDTF">2026-02-16T10:34:13Z</dcterms:modified>
</cp:coreProperties>
</file>
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78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0397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775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48949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9695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1472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60250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523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870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6232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27191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2516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02201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6151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34774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79458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10942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5217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1A6640-249C-402D-8B96-522C05FAF9CB}" type="datetimeFigureOut">
              <a:rPr lang="hu-HU" smtClean="0"/>
              <a:t>2026. 02. 16.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1E1495-FF38-4EC0-A83F-B34234D114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44256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082FC86-6B39-42BE-AF50-A0285BBC7D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Notify</a:t>
            </a:r>
            <a:r>
              <a:rPr lang="hu-HU" dirty="0"/>
              <a:t> </a:t>
            </a:r>
            <a:r>
              <a:rPr lang="hu-HU" dirty="0" err="1"/>
              <a:t>Photography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6CB958D-331B-4E68-B581-89A90150BF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/>
              <a:t>Ujszászi</a:t>
            </a:r>
            <a:r>
              <a:rPr lang="hu-HU" dirty="0"/>
              <a:t> Vivien, Pintér Botond</a:t>
            </a:r>
          </a:p>
        </p:txBody>
      </p:sp>
    </p:spTree>
    <p:extLst>
      <p:ext uri="{BB962C8B-B14F-4D97-AF65-F5344CB8AC3E}">
        <p14:creationId xmlns:p14="http://schemas.microsoft.com/office/powerpoint/2010/main" val="444883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0F106B-47A6-4F07-B8C0-D5786E71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Project </a:t>
            </a:r>
            <a:r>
              <a:rPr lang="hu-HU" dirty="0" err="1"/>
              <a:t>Description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BC8A533-EB8E-4AD9-BE0C-9F35E379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The purpose of this project is to design and implement a full enterprise network topology for a professional photography company operating across two physical locations.</a:t>
            </a:r>
            <a:endParaRPr lang="hu-HU" sz="2400" dirty="0"/>
          </a:p>
          <a:p>
            <a:pPr marL="0" indent="0">
              <a:buNone/>
            </a:pPr>
            <a:endParaRPr lang="hu-HU" sz="2400" dirty="0"/>
          </a:p>
          <a:p>
            <a:r>
              <a:rPr lang="en-US" sz="2400" dirty="0"/>
              <a:t>The infrastructure ensures secure, scalable, and highly available communication between sites while maintaining enterprise-grade security and routing standards.</a:t>
            </a:r>
            <a:endParaRPr lang="hu-HU" sz="2400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263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96A251-EC7C-4A92-9C77-57A4FB16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Network </a:t>
            </a:r>
            <a:r>
              <a:rPr lang="hu-HU" dirty="0" err="1"/>
              <a:t>Architecture</a:t>
            </a:r>
            <a:r>
              <a:rPr lang="hu-HU" dirty="0"/>
              <a:t> </a:t>
            </a:r>
            <a:r>
              <a:rPr lang="hu-HU" dirty="0" err="1"/>
              <a:t>Overview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11AA810-249E-4B6E-A8CD-C07316CF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The network consists of two primary sites:</a:t>
            </a:r>
          </a:p>
          <a:p>
            <a:r>
              <a:rPr lang="en-US" sz="2200" dirty="0"/>
              <a:t>The central site hosts the core infrastructure, including routing, authentication, storage, and application services.</a:t>
            </a:r>
            <a:br>
              <a:rPr lang="en-US" sz="2200" dirty="0"/>
            </a:br>
            <a:r>
              <a:rPr lang="en-US" sz="2200" dirty="0"/>
              <a:t>The secondary site provides operational office infrastructure and production studio networking.</a:t>
            </a:r>
          </a:p>
          <a:p>
            <a:r>
              <a:rPr lang="en-US" sz="2200" dirty="0"/>
              <a:t>The two sites are interconnected using site-to-site VPN technology. External connectivity is provided using Border Gateway Protocol routing toward the internet service provider.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9732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6C78F8-C8AC-4CDB-A48D-1F7D448EB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3. </a:t>
            </a:r>
            <a:r>
              <a:rPr lang="hu-HU" dirty="0" err="1"/>
              <a:t>Core</a:t>
            </a:r>
            <a:r>
              <a:rPr lang="hu-HU" dirty="0"/>
              <a:t> </a:t>
            </a:r>
            <a:r>
              <a:rPr lang="hu-HU" dirty="0" err="1"/>
              <a:t>Infrastructure</a:t>
            </a:r>
            <a:r>
              <a:rPr lang="hu-HU" dirty="0"/>
              <a:t> Design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990BFDF-EBCA-4674-A848-8E881E819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The central infrastructure contains the primary server farm and routing backbone. The server farm provides centralized storage, authentication services, and application hosting.</a:t>
            </a:r>
          </a:p>
          <a:p>
            <a:r>
              <a:rPr lang="en-US" sz="2200" dirty="0"/>
              <a:t>Redundant switching ensures fault tolerance and continuous operation in case of hardware failure. The routing layer uses dynamic routing protocols internally while maintaining external routing via BGP.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80621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B6B453E-5670-4BA6-A888-81EB84A58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4. Network </a:t>
            </a:r>
            <a:r>
              <a:rPr lang="hu-HU" dirty="0" err="1"/>
              <a:t>Segmentation</a:t>
            </a:r>
            <a:r>
              <a:rPr lang="hu-HU" dirty="0"/>
              <a:t> </a:t>
            </a:r>
            <a:r>
              <a:rPr lang="hu-HU" dirty="0" err="1"/>
              <a:t>Strategy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689BDD1-0278-4DC0-B6EB-9C40650EF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Logical</a:t>
            </a:r>
            <a:r>
              <a:rPr lang="hu-HU" dirty="0"/>
              <a:t> </a:t>
            </a:r>
            <a:r>
              <a:rPr lang="hu-HU" dirty="0" err="1"/>
              <a:t>segmentation</a:t>
            </a:r>
            <a:r>
              <a:rPr lang="hu-HU" dirty="0"/>
              <a:t> is </a:t>
            </a:r>
            <a:r>
              <a:rPr lang="hu-HU" dirty="0" err="1"/>
              <a:t>implemented</a:t>
            </a:r>
            <a:r>
              <a:rPr lang="hu-HU" dirty="0"/>
              <a:t> </a:t>
            </a:r>
            <a:r>
              <a:rPr lang="hu-HU" dirty="0" err="1"/>
              <a:t>using</a:t>
            </a:r>
            <a:r>
              <a:rPr lang="hu-HU" dirty="0"/>
              <a:t> VLAN </a:t>
            </a:r>
            <a:r>
              <a:rPr lang="hu-HU" dirty="0" err="1"/>
              <a:t>technology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 err="1"/>
              <a:t>This</a:t>
            </a:r>
            <a:r>
              <a:rPr lang="hu-HU" dirty="0"/>
              <a:t> </a:t>
            </a:r>
            <a:r>
              <a:rPr lang="hu-HU" dirty="0" err="1"/>
              <a:t>ensures</a:t>
            </a:r>
            <a:r>
              <a:rPr lang="hu-HU" dirty="0"/>
              <a:t> </a:t>
            </a:r>
            <a:r>
              <a:rPr lang="hu-HU" dirty="0" err="1"/>
              <a:t>improved</a:t>
            </a:r>
            <a:r>
              <a:rPr lang="hu-HU" dirty="0"/>
              <a:t> </a:t>
            </a:r>
            <a:r>
              <a:rPr lang="hu-HU" dirty="0" err="1"/>
              <a:t>security</a:t>
            </a:r>
            <a:r>
              <a:rPr lang="hu-HU" dirty="0"/>
              <a:t>, </a:t>
            </a:r>
            <a:r>
              <a:rPr lang="hu-HU" dirty="0" err="1"/>
              <a:t>traffic</a:t>
            </a:r>
            <a:r>
              <a:rPr lang="hu-HU" dirty="0"/>
              <a:t> </a:t>
            </a:r>
            <a:r>
              <a:rPr lang="hu-HU" dirty="0" err="1"/>
              <a:t>isolation</a:t>
            </a:r>
            <a:r>
              <a:rPr lang="hu-HU" dirty="0"/>
              <a:t>, and </a:t>
            </a:r>
            <a:r>
              <a:rPr lang="hu-HU" dirty="0" err="1"/>
              <a:t>reduced</a:t>
            </a:r>
            <a:r>
              <a:rPr lang="hu-HU" dirty="0"/>
              <a:t> </a:t>
            </a:r>
            <a:r>
              <a:rPr lang="hu-HU" dirty="0" err="1"/>
              <a:t>broadcast</a:t>
            </a:r>
            <a:r>
              <a:rPr lang="hu-HU" dirty="0"/>
              <a:t> </a:t>
            </a:r>
            <a:r>
              <a:rPr lang="hu-HU" dirty="0" err="1"/>
              <a:t>domain</a:t>
            </a:r>
            <a:r>
              <a:rPr lang="hu-HU" dirty="0"/>
              <a:t> </a:t>
            </a:r>
            <a:r>
              <a:rPr lang="hu-HU" dirty="0" err="1"/>
              <a:t>sizes</a:t>
            </a:r>
            <a:r>
              <a:rPr lang="hu-HU" dirty="0"/>
              <a:t>.</a:t>
            </a:r>
          </a:p>
          <a:p>
            <a:r>
              <a:rPr lang="hu-HU" dirty="0" err="1"/>
              <a:t>Separate</a:t>
            </a:r>
            <a:r>
              <a:rPr lang="hu-HU" dirty="0"/>
              <a:t> </a:t>
            </a:r>
            <a:r>
              <a:rPr lang="hu-HU" dirty="0" err="1"/>
              <a:t>VLANs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used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:</a:t>
            </a:r>
          </a:p>
          <a:p>
            <a:pPr lvl="1"/>
            <a:r>
              <a:rPr lang="hu-HU" sz="2000" dirty="0"/>
              <a:t>Management </a:t>
            </a:r>
            <a:r>
              <a:rPr lang="hu-HU" sz="2000" dirty="0" err="1"/>
              <a:t>traffic</a:t>
            </a:r>
            <a:endParaRPr lang="hu-HU" sz="2000" dirty="0"/>
          </a:p>
          <a:p>
            <a:pPr lvl="1"/>
            <a:r>
              <a:rPr lang="hu-HU" sz="2000" dirty="0" err="1"/>
              <a:t>Client</a:t>
            </a:r>
            <a:r>
              <a:rPr lang="hu-HU" sz="2000" dirty="0"/>
              <a:t> </a:t>
            </a:r>
            <a:r>
              <a:rPr lang="hu-HU" sz="2000" dirty="0" err="1"/>
              <a:t>devices</a:t>
            </a:r>
            <a:endParaRPr lang="hu-HU" sz="2000" dirty="0"/>
          </a:p>
          <a:p>
            <a:pPr lvl="1"/>
            <a:r>
              <a:rPr lang="hu-HU" sz="2000" dirty="0" err="1"/>
              <a:t>IoT</a:t>
            </a:r>
            <a:r>
              <a:rPr lang="hu-HU" sz="2000" dirty="0"/>
              <a:t> and </a:t>
            </a:r>
            <a:r>
              <a:rPr lang="hu-HU" sz="2000" dirty="0" err="1"/>
              <a:t>auxiliary</a:t>
            </a:r>
            <a:r>
              <a:rPr lang="hu-HU" sz="2000" dirty="0"/>
              <a:t> </a:t>
            </a:r>
            <a:r>
              <a:rPr lang="hu-HU" sz="2000" dirty="0" err="1"/>
              <a:t>systems</a:t>
            </a:r>
            <a:endParaRPr lang="hu-HU" sz="2000" dirty="0"/>
          </a:p>
          <a:p>
            <a:pPr lvl="1"/>
            <a:r>
              <a:rPr lang="hu-HU" sz="2000" dirty="0" err="1"/>
              <a:t>Default</a:t>
            </a:r>
            <a:r>
              <a:rPr lang="hu-HU" sz="2000" dirty="0"/>
              <a:t>/</a:t>
            </a:r>
            <a:r>
              <a:rPr lang="hu-HU" sz="2000" dirty="0" err="1"/>
              <a:t>native</a:t>
            </a:r>
            <a:r>
              <a:rPr lang="hu-HU" sz="2000" dirty="0"/>
              <a:t> </a:t>
            </a:r>
            <a:r>
              <a:rPr lang="hu-HU" sz="2000" dirty="0" err="1"/>
              <a:t>traffic</a:t>
            </a:r>
            <a:endParaRPr lang="hu-HU" sz="2000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68596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4445C5-DC17-47A8-9711-664D31EBA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5. </a:t>
            </a:r>
            <a:r>
              <a:rPr lang="hu-HU" dirty="0" err="1"/>
              <a:t>Secondary</a:t>
            </a:r>
            <a:r>
              <a:rPr lang="hu-HU" dirty="0"/>
              <a:t> Site </a:t>
            </a:r>
            <a:r>
              <a:rPr lang="hu-HU" dirty="0" err="1"/>
              <a:t>Infrastructure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8D71CD2-1F84-4843-A763-906221DCD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The secondary site supports administrative operations and production workflows. The network design supports high bandwidth data transfers required for multimedia production workflows such as RAW image and video processing.</a:t>
            </a:r>
            <a:endParaRPr lang="hu-HU" sz="2200" dirty="0"/>
          </a:p>
        </p:txBody>
      </p:sp>
    </p:spTree>
    <p:extLst>
      <p:ext uri="{BB962C8B-B14F-4D97-AF65-F5344CB8AC3E}">
        <p14:creationId xmlns:p14="http://schemas.microsoft.com/office/powerpoint/2010/main" val="238560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F421C6-21B1-429D-A862-473F6EC76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6. </a:t>
            </a:r>
            <a:r>
              <a:rPr lang="hu-HU" dirty="0" err="1"/>
              <a:t>External</a:t>
            </a:r>
            <a:r>
              <a:rPr lang="hu-HU" dirty="0"/>
              <a:t> </a:t>
            </a:r>
            <a:r>
              <a:rPr lang="hu-HU" dirty="0" err="1"/>
              <a:t>Connectivity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935B5C3-E073-49BC-B04B-C0E1228DA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External communication is handled using BGP routing. Public services are hosted in a logically separated segment similar to a DMZ. This reduces risk exposure to internal infrastructure.</a:t>
            </a:r>
            <a:endParaRPr lang="hu-HU" sz="2200" dirty="0"/>
          </a:p>
        </p:txBody>
      </p:sp>
    </p:spTree>
    <p:extLst>
      <p:ext uri="{BB962C8B-B14F-4D97-AF65-F5344CB8AC3E}">
        <p14:creationId xmlns:p14="http://schemas.microsoft.com/office/powerpoint/2010/main" val="229850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51617C-8260-4C5C-B486-591F74D8A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7. </a:t>
            </a:r>
            <a:r>
              <a:rPr lang="hu-HU" dirty="0" err="1"/>
              <a:t>Security</a:t>
            </a:r>
            <a:r>
              <a:rPr lang="hu-HU" dirty="0"/>
              <a:t> </a:t>
            </a:r>
            <a:r>
              <a:rPr lang="hu-HU" dirty="0" err="1"/>
              <a:t>Implementation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E4F4973-CFD6-4005-B51C-A5E9AD655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/>
              <a:t>Security is ensured through multiple layers:</a:t>
            </a:r>
          </a:p>
          <a:p>
            <a:r>
              <a:rPr lang="en-US" sz="2300" dirty="0"/>
              <a:t>Logical segmentation</a:t>
            </a:r>
          </a:p>
          <a:p>
            <a:r>
              <a:rPr lang="en-US" sz="2300" dirty="0"/>
              <a:t>Access control filtering</a:t>
            </a:r>
          </a:p>
          <a:p>
            <a:r>
              <a:rPr lang="en-US" sz="2300" dirty="0"/>
              <a:t>Encrypted communication tunnels</a:t>
            </a:r>
          </a:p>
          <a:p>
            <a:r>
              <a:rPr lang="en-US" sz="2300" dirty="0"/>
              <a:t>Segregated public services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00957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9C4C01-981F-424B-BB61-61DCF2FE0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8. </a:t>
            </a:r>
            <a:r>
              <a:rPr lang="hu-HU" dirty="0" err="1"/>
              <a:t>Conclusion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821E7C-A09F-4723-8D30-924634F5F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The designed network provides enterprise-grade reliability, scalability, and security. The architecture ensures long-term expandability and supports the operational needs of a professional multimedia production environment.</a:t>
            </a:r>
            <a:endParaRPr lang="hu-HU" sz="2200" dirty="0"/>
          </a:p>
        </p:txBody>
      </p:sp>
    </p:spTree>
    <p:extLst>
      <p:ext uri="{BB962C8B-B14F-4D97-AF65-F5344CB8AC3E}">
        <p14:creationId xmlns:p14="http://schemas.microsoft.com/office/powerpoint/2010/main" val="2793782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TM04033921[[fn=Damaszt]]</Template>
  <TotalTime>0</TotalTime>
  <Words>358</Words>
  <Application>Microsoft Office PowerPoint</Application>
  <PresentationFormat>Szélesvásznú</PresentationFormat>
  <Paragraphs>32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Arial</vt:lpstr>
      <vt:lpstr>Bookman Old Style</vt:lpstr>
      <vt:lpstr>Rockwell</vt:lpstr>
      <vt:lpstr>Damask</vt:lpstr>
      <vt:lpstr>Notify Photography</vt:lpstr>
      <vt:lpstr>1. Project Description</vt:lpstr>
      <vt:lpstr>2. Network Architecture Overview</vt:lpstr>
      <vt:lpstr>3. Core Infrastructure Design</vt:lpstr>
      <vt:lpstr>4. Network Segmentation Strategy</vt:lpstr>
      <vt:lpstr>5. Secondary Site Infrastructure</vt:lpstr>
      <vt:lpstr>6. External Connectivity</vt:lpstr>
      <vt:lpstr>7. Security Implementation</vt:lpstr>
      <vt:lpstr>8. 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Notify Photography</dc:title>
  <dc:creator>Pintér Botond Sándor</dc:creator>
  <cp:lastModifiedBy>Pintér Botond Sándor</cp:lastModifiedBy>
  <cp:revision>3</cp:revision>
  <dcterms:created xsi:type="dcterms:W3CDTF">2026-02-16T10:25:25Z</dcterms:created>
  <dcterms:modified xsi:type="dcterms:W3CDTF">2026-02-16T10:28:56Z</dcterms:modified>
</cp:coreProperties>
</file>